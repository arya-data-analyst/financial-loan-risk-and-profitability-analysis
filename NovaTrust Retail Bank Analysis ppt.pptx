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8" autoAdjust="0"/>
    <p:restoredTop sz="94660"/>
  </p:normalViewPr>
  <p:slideViewPr>
    <p:cSldViewPr snapToGrid="0">
      <p:cViewPr varScale="1">
        <p:scale>
          <a:sx n="69" d="100"/>
          <a:sy n="69" d="100"/>
        </p:scale>
        <p:origin x="60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7C29C-6983-4894-9DA9-803B22A3FFD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03674-E1B9-4B5C-9964-11CC955E6E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640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203674-E1B9-4B5C-9964-11CC955E6E8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783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4FA50-707E-4E62-A75C-84D08991B77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BCC7-C80F-4DA0-A2EC-3F070BBAC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13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4FA50-707E-4E62-A75C-84D08991B77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BCC7-C80F-4DA0-A2EC-3F070BBAC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73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4FA50-707E-4E62-A75C-84D08991B77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BCC7-C80F-4DA0-A2EC-3F070BBAC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968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4FA50-707E-4E62-A75C-84D08991B77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BCC7-C80F-4DA0-A2EC-3F070BBAC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789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4FA50-707E-4E62-A75C-84D08991B77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BCC7-C80F-4DA0-A2EC-3F070BBAC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60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4FA50-707E-4E62-A75C-84D08991B77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BCC7-C80F-4DA0-A2EC-3F070BBAC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37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4FA50-707E-4E62-A75C-84D08991B77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BCC7-C80F-4DA0-A2EC-3F070BBAC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331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4FA50-707E-4E62-A75C-84D08991B77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BCC7-C80F-4DA0-A2EC-3F070BBAC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6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4FA50-707E-4E62-A75C-84D08991B77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BCC7-C80F-4DA0-A2EC-3F070BBAC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06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4FA50-707E-4E62-A75C-84D08991B77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BCC7-C80F-4DA0-A2EC-3F070BBAC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31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4FA50-707E-4E62-A75C-84D08991B77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BCC7-C80F-4DA0-A2EC-3F070BBAC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520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4FA50-707E-4E62-A75C-84D08991B77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DBCC7-C80F-4DA0-A2EC-3F070BBAC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601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763" y="180109"/>
            <a:ext cx="9144000" cy="886691"/>
          </a:xfrm>
        </p:spPr>
        <p:txBody>
          <a:bodyPr>
            <a:normAutofit fontScale="90000"/>
          </a:bodyPr>
          <a:lstStyle/>
          <a:p>
            <a:r>
              <a:rPr lang="en-IN" sz="4000" dirty="0" err="1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NovaTrust</a:t>
            </a:r>
            <a:r>
              <a:rPr lang="en-IN" sz="4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 </a:t>
            </a:r>
            <a:r>
              <a:rPr lang="en-IN" sz="4000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Bank Loan Risk Analysis Project</a:t>
            </a:r>
            <a:endParaRPr lang="en-IN" sz="4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255" y="1246909"/>
            <a:ext cx="11956472" cy="1066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MySQL | Python | Power BI</a:t>
            </a:r>
          </a:p>
          <a:p>
            <a:r>
              <a:rPr lang="en-US" dirty="0" smtClean="0"/>
              <a:t>End-to-End Data Analytics Project</a:t>
            </a:r>
            <a:endParaRPr lang="en-IN" dirty="0"/>
          </a:p>
          <a:p>
            <a:r>
              <a:rPr lang="en-US" dirty="0" smtClean="0"/>
              <a:t>                                                                                                                       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66255" y="4550060"/>
            <a:ext cx="1129145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 smtClean="0">
                <a:latin typeface="+mj-lt"/>
              </a:rPr>
              <a:t>Project Architecture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000" dirty="0" smtClean="0">
              <a:latin typeface="+mj-lt"/>
            </a:endParaRPr>
          </a:p>
          <a:p>
            <a:r>
              <a:rPr lang="en-IN" dirty="0" smtClean="0"/>
              <a:t>Raw Data → </a:t>
            </a:r>
            <a:r>
              <a:rPr lang="en-IN" b="1" dirty="0" smtClean="0"/>
              <a:t>MySQL (Cleaning &amp; EDA)</a:t>
            </a:r>
            <a:r>
              <a:rPr lang="en-IN" dirty="0" smtClean="0"/>
              <a:t> → </a:t>
            </a:r>
            <a:r>
              <a:rPr lang="en-IN" b="1" dirty="0" smtClean="0"/>
              <a:t>Python (KPI &amp; Risk Analysis)</a:t>
            </a:r>
            <a:r>
              <a:rPr lang="en-IN" dirty="0" smtClean="0"/>
              <a:t> → </a:t>
            </a:r>
            <a:r>
              <a:rPr lang="en-IN" b="1" dirty="0" smtClean="0"/>
              <a:t>Power BI (Interactive Dashboard)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66255" y="2313709"/>
            <a:ext cx="118594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Tools &amp; </a:t>
            </a:r>
            <a:r>
              <a:rPr lang="en-IN" sz="2000" dirty="0" smtClean="0">
                <a:latin typeface="+mj-lt"/>
              </a:rPr>
              <a:t>Technologies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0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 smtClean="0">
                <a:latin typeface="+mj-lt"/>
              </a:rPr>
              <a:t> MySQL</a:t>
            </a:r>
            <a:r>
              <a:rPr lang="en-IN" dirty="0" smtClean="0">
                <a:latin typeface="+mj-lt"/>
              </a:rPr>
              <a:t> </a:t>
            </a:r>
            <a:r>
              <a:rPr lang="en-IN" dirty="0">
                <a:latin typeface="+mj-lt"/>
              </a:rPr>
              <a:t>– Data cleaning &amp; aggregation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+mj-lt"/>
              </a:rPr>
              <a:t>Python (Pandas, </a:t>
            </a:r>
            <a:r>
              <a:rPr lang="en-IN" b="1" dirty="0" err="1">
                <a:latin typeface="+mj-lt"/>
              </a:rPr>
              <a:t>NumPy</a:t>
            </a:r>
            <a:r>
              <a:rPr lang="en-IN" b="1" dirty="0">
                <a:latin typeface="+mj-lt"/>
              </a:rPr>
              <a:t>, </a:t>
            </a:r>
            <a:r>
              <a:rPr lang="en-IN" b="1" dirty="0" err="1">
                <a:latin typeface="+mj-lt"/>
              </a:rPr>
              <a:t>Matplotlib</a:t>
            </a:r>
            <a:r>
              <a:rPr lang="en-IN" b="1" dirty="0">
                <a:latin typeface="+mj-lt"/>
              </a:rPr>
              <a:t>, </a:t>
            </a:r>
            <a:r>
              <a:rPr lang="en-IN" b="1" dirty="0" err="1">
                <a:latin typeface="+mj-lt"/>
              </a:rPr>
              <a:t>Seaborn</a:t>
            </a:r>
            <a:r>
              <a:rPr lang="en-IN" b="1" dirty="0">
                <a:latin typeface="+mj-lt"/>
              </a:rPr>
              <a:t>)</a:t>
            </a:r>
            <a:r>
              <a:rPr lang="en-IN" dirty="0">
                <a:latin typeface="+mj-lt"/>
              </a:rPr>
              <a:t> – Analytics &amp; KPI </a:t>
            </a:r>
            <a:r>
              <a:rPr lang="en-IN" dirty="0" err="1">
                <a:latin typeface="+mj-lt"/>
              </a:rPr>
              <a:t>modeling</a:t>
            </a:r>
            <a:endParaRPr lang="en-IN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 smtClean="0"/>
              <a:t>Power </a:t>
            </a:r>
            <a:r>
              <a:rPr lang="en-IN" b="1" dirty="0"/>
              <a:t>BI (DAX)</a:t>
            </a:r>
            <a:r>
              <a:rPr lang="en-IN" dirty="0"/>
              <a:t> – Dashboard &amp; Business Intelligence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Excel (Optional)</a:t>
            </a:r>
            <a:r>
              <a:rPr lang="en-IN" dirty="0"/>
              <a:t> – Summary reporting</a:t>
            </a:r>
          </a:p>
        </p:txBody>
      </p:sp>
    </p:spTree>
    <p:extLst>
      <p:ext uri="{BB962C8B-B14F-4D97-AF65-F5344CB8AC3E}">
        <p14:creationId xmlns:p14="http://schemas.microsoft.com/office/powerpoint/2010/main" val="3962580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91" y="309708"/>
            <a:ext cx="10515600" cy="57698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 </a:t>
            </a:r>
            <a:r>
              <a:rPr lang="en-US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Project Overview</a:t>
            </a:r>
            <a:br>
              <a:rPr lang="en-US" b="1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endParaRPr lang="en-IN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890" y="886691"/>
            <a:ext cx="11880273" cy="2299853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This project presents a complete </a:t>
            </a:r>
            <a:r>
              <a:rPr lang="en-US" b="1" dirty="0" smtClean="0"/>
              <a:t>end-to-end financial loan analysis pipeline</a:t>
            </a:r>
            <a:r>
              <a:rPr lang="en-US" dirty="0" smtClean="0"/>
              <a:t>, focused on evaluating:</a:t>
            </a:r>
          </a:p>
          <a:p>
            <a:endParaRPr lang="en-US" dirty="0" smtClean="0"/>
          </a:p>
          <a:p>
            <a:r>
              <a:rPr lang="en-US" dirty="0" smtClean="0"/>
              <a:t>Loan performance</a:t>
            </a:r>
          </a:p>
          <a:p>
            <a:r>
              <a:rPr lang="en-US" dirty="0" smtClean="0"/>
              <a:t>Credit risk exposure</a:t>
            </a:r>
          </a:p>
          <a:p>
            <a:r>
              <a:rPr lang="en-US" dirty="0" smtClean="0"/>
              <a:t>Good vs Bad loan segmentation</a:t>
            </a:r>
          </a:p>
          <a:p>
            <a:r>
              <a:rPr lang="en-US" dirty="0" smtClean="0"/>
              <a:t>Profitability analysis</a:t>
            </a:r>
          </a:p>
          <a:p>
            <a:r>
              <a:rPr lang="en-US" dirty="0" smtClean="0"/>
              <a:t>Portfolio health monitoring</a:t>
            </a:r>
          </a:p>
          <a:p>
            <a:r>
              <a:rPr lang="en-US" dirty="0" smtClean="0"/>
              <a:t>The objective is to simulate a </a:t>
            </a:r>
            <a:r>
              <a:rPr lang="en-US" b="1" dirty="0" smtClean="0"/>
              <a:t>real-world banking / credit risk analytics workflow</a:t>
            </a:r>
            <a:r>
              <a:rPr lang="en-US" dirty="0" smtClean="0"/>
              <a:t>, integrating SQL, Python, and Power BI.</a:t>
            </a: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39436" y="3186544"/>
            <a:ext cx="88669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Business Problem</a:t>
            </a:r>
            <a:endParaRPr lang="en-IN" sz="4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0890" y="3894430"/>
            <a:ext cx="11430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Financial institutions must continuously monitor loan portfolios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Reduce default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Improve credit underwriting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Optimize profitability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Identify high-risk borrower segments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This project </a:t>
            </a:r>
            <a:r>
              <a:rPr lang="en-IN" dirty="0" err="1" smtClean="0"/>
              <a:t>analyzes</a:t>
            </a:r>
            <a:r>
              <a:rPr lang="en-IN" dirty="0" smtClean="0"/>
              <a:t> loan-level data to extract actionable insights that support credit risk strategy and portfolio management.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362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1"/>
            <a:ext cx="11201400" cy="595744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MySQL – Data Cleaning &amp; Exploratory Analysis</a:t>
            </a:r>
            <a:endParaRPr lang="en-IN" sz="4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2400" y="1115873"/>
            <a:ext cx="635302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Transformation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tandardized date formats using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STR_TO_DATE()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aseline="0" dirty="0" smtClean="0">
                <a:latin typeface="Arial" panose="020B0604020202020204" pitchFamily="34" charset="0"/>
              </a:rPr>
              <a:t>Converted</a:t>
            </a:r>
            <a:r>
              <a:rPr lang="en-US" altLang="en-US" sz="1800" dirty="0" smtClean="0">
                <a:latin typeface="Arial" panose="020B0604020202020204" pitchFamily="34" charset="0"/>
              </a:rPr>
              <a:t> interest rate from percentage to numeric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 smtClean="0">
                <a:latin typeface="Arial" panose="020B0604020202020204" pitchFamily="34" charset="0"/>
              </a:rPr>
              <a:t>C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reated numeric employment length variable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 smtClean="0">
                <a:latin typeface="Arial" panose="020B0604020202020204" pitchFamily="34" charset="0"/>
              </a:rPr>
              <a:t>Removed invalid/null financial records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800" dirty="0" smtClean="0">
                <a:latin typeface="Arial" panose="020B0604020202020204" pitchFamily="34" charset="0"/>
              </a:rPr>
              <a:t> Core  SQL Analysis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smtClean="0">
                <a:latin typeface="Arial" panose="020B0604020202020204" pitchFamily="34" charset="0"/>
              </a:rPr>
              <a:t>Total loan portfolio value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smtClean="0">
                <a:latin typeface="Arial" panose="020B0604020202020204" pitchFamily="34" charset="0"/>
              </a:rPr>
              <a:t>Default rate calculation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smtClean="0">
                <a:latin typeface="Arial" panose="020B0604020202020204" pitchFamily="34" charset="0"/>
              </a:rPr>
              <a:t>Profit estimation ( SUM(payment) – SUM( </a:t>
            </a:r>
            <a:r>
              <a:rPr lang="en-US" altLang="en-US" sz="1800" dirty="0" err="1" smtClean="0">
                <a:latin typeface="Arial" panose="020B0604020202020204" pitchFamily="34" charset="0"/>
              </a:rPr>
              <a:t>loan_amount</a:t>
            </a:r>
            <a:r>
              <a:rPr lang="en-US" altLang="en-US" sz="1800" dirty="0" smtClean="0">
                <a:latin typeface="Arial" panose="020B0604020202020204" pitchFamily="34" charset="0"/>
              </a:rPr>
              <a:t> ))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smtClean="0">
                <a:latin typeface="Arial" panose="020B0604020202020204" pitchFamily="34" charset="0"/>
              </a:rPr>
              <a:t>Monthly loan issuance trend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smtClean="0">
                <a:latin typeface="Arial" panose="020B0604020202020204" pitchFamily="34" charset="0"/>
              </a:rPr>
              <a:t>Geographic loan distribution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smtClean="0">
                <a:latin typeface="Arial" panose="020B0604020202020204" pitchFamily="34" charset="0"/>
              </a:rPr>
              <a:t>Risk analysis by grade and purpose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562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017" y="101890"/>
            <a:ext cx="11630891" cy="68781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Python – KPI Development &amp; Risk Analytics</a:t>
            </a:r>
            <a:endParaRPr lang="en-IN" sz="4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017" y="952788"/>
            <a:ext cx="11630892" cy="4935394"/>
          </a:xfrm>
        </p:spPr>
        <p:txBody>
          <a:bodyPr>
            <a:normAutofit/>
          </a:bodyPr>
          <a:lstStyle/>
          <a:p>
            <a:r>
              <a:rPr lang="en-IN" sz="2400" dirty="0" smtClean="0"/>
              <a:t>Python was used for:</a:t>
            </a:r>
          </a:p>
          <a:p>
            <a:pPr marL="0" indent="0">
              <a:buNone/>
            </a:pPr>
            <a:r>
              <a:rPr lang="en-US" sz="2400" dirty="0" smtClean="0"/>
              <a:t>                  </a:t>
            </a:r>
          </a:p>
          <a:p>
            <a:r>
              <a:rPr lang="en-US" sz="2400" dirty="0" smtClean="0"/>
              <a:t> </a:t>
            </a:r>
            <a:r>
              <a:rPr lang="en-IN" sz="2400" dirty="0" smtClean="0"/>
              <a:t>Feature engineering</a:t>
            </a:r>
          </a:p>
          <a:p>
            <a:r>
              <a:rPr lang="en-US" sz="2000" dirty="0"/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Risk segmentation</a:t>
            </a:r>
          </a:p>
          <a:p>
            <a:r>
              <a:rPr lang="en-US" sz="2400" dirty="0" smtClean="0"/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vs Bad loan classification</a:t>
            </a:r>
          </a:p>
          <a:p>
            <a:r>
              <a:rPr lang="en-US" sz="2000" dirty="0" smtClean="0"/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 computation</a:t>
            </a:r>
          </a:p>
          <a:p>
            <a:r>
              <a:rPr lang="en-US" sz="2000" dirty="0" smtClean="0"/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visualization</a:t>
            </a:r>
          </a:p>
          <a:p>
            <a:endParaRPr lang="en-IN" sz="24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smtClean="0"/>
              <a:t> </a:t>
            </a:r>
            <a:r>
              <a:rPr lang="en-IN" sz="2400" dirty="0" smtClean="0"/>
              <a:t>Loan Classification :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 </a:t>
            </a:r>
            <a:r>
              <a:rPr lang="en-US" sz="2400" b="1" dirty="0" smtClean="0"/>
              <a:t>Good Loans</a:t>
            </a:r>
            <a:r>
              <a:rPr lang="en-US" sz="2400" dirty="0" smtClean="0"/>
              <a:t> → Fully Paid, Current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 smtClean="0"/>
              <a:t> </a:t>
            </a:r>
            <a:r>
              <a:rPr lang="en-US" sz="2400" b="1" dirty="0" smtClean="0"/>
              <a:t>Bad Loans</a:t>
            </a:r>
            <a:r>
              <a:rPr lang="en-US" sz="2400" dirty="0" smtClean="0"/>
              <a:t> → Charged Off, Default, Late</a:t>
            </a:r>
            <a:endParaRPr lang="en-US" sz="2400" dirty="0"/>
          </a:p>
          <a:p>
            <a:endParaRPr lang="en-I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179127" y="952788"/>
            <a:ext cx="5624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 smtClean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765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idx="1"/>
          </p:nvPr>
        </p:nvSpPr>
        <p:spPr>
          <a:xfrm>
            <a:off x="228600" y="290512"/>
            <a:ext cx="11588750" cy="6567487"/>
          </a:xfrm>
        </p:spPr>
        <p:txBody>
          <a:bodyPr>
            <a:normAutofit fontScale="97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latin typeface="+mj-lt"/>
              </a:rPr>
              <a:t> </a:t>
            </a:r>
            <a:r>
              <a:rPr lang="en-US" sz="2500" dirty="0" smtClean="0">
                <a:latin typeface="+mj-lt"/>
              </a:rPr>
              <a:t>Key </a:t>
            </a:r>
            <a:r>
              <a:rPr lang="en-US" sz="2500" dirty="0">
                <a:latin typeface="+mj-lt"/>
              </a:rPr>
              <a:t>KPIs Built </a:t>
            </a:r>
            <a:r>
              <a:rPr lang="en-US" sz="2500" dirty="0" smtClean="0">
                <a:latin typeface="+mj-lt"/>
              </a:rPr>
              <a:t>in Python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+mj-lt"/>
              </a:rPr>
              <a:t> </a:t>
            </a:r>
            <a:r>
              <a:rPr lang="en-IN" sz="1600" dirty="0"/>
              <a:t>Total </a:t>
            </a:r>
            <a:r>
              <a:rPr lang="en-IN" sz="1600" dirty="0" smtClean="0"/>
              <a:t>Loan Application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 </a:t>
            </a:r>
            <a:r>
              <a:rPr lang="en-US" sz="1600" dirty="0" smtClean="0">
                <a:latin typeface="+mj-lt"/>
              </a:rPr>
              <a:t>Total Amount Funded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+mj-lt"/>
              </a:rPr>
              <a:t>Total Amount Received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+mj-lt"/>
              </a:rPr>
              <a:t>Default Rate %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+mj-lt"/>
              </a:rPr>
              <a:t>Good Loan %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+mj-lt"/>
              </a:rPr>
              <a:t>Estimated Profit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+mj-lt"/>
              </a:rPr>
              <a:t>Loan-to-Income Ratio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+mj-lt"/>
              </a:rPr>
              <a:t>Risk Category (Low /Medium / High DTI )</a:t>
            </a:r>
          </a:p>
          <a:p>
            <a:pPr marL="0" indent="0">
              <a:buNone/>
            </a:pPr>
            <a:endParaRPr lang="en-US" sz="1600" dirty="0" smtClean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500" dirty="0" smtClean="0">
                <a:latin typeface="+mj-lt"/>
              </a:rPr>
              <a:t>  Visual </a:t>
            </a:r>
            <a:r>
              <a:rPr lang="en-IN" sz="2500" dirty="0">
                <a:latin typeface="+mj-lt"/>
              </a:rPr>
              <a:t>Analysis</a:t>
            </a:r>
            <a:endParaRPr lang="en-US" sz="25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Loan Status Distribution</a:t>
            </a:r>
            <a:r>
              <a:rPr lang="en-US" sz="1800" dirty="0" smtClean="0">
                <a:latin typeface="+mj-lt"/>
              </a:rPr>
              <a:t> </a:t>
            </a:r>
            <a:endParaRPr lang="en-IN" sz="18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 smtClean="0"/>
              <a:t>Default </a:t>
            </a:r>
            <a:r>
              <a:rPr lang="en-IN" sz="1800" dirty="0"/>
              <a:t>Rate by </a:t>
            </a:r>
            <a:r>
              <a:rPr lang="en-IN" sz="1800" dirty="0" smtClean="0"/>
              <a:t>Grade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+mj-lt"/>
              </a:rPr>
              <a:t> </a:t>
            </a:r>
            <a:r>
              <a:rPr lang="en-US" altLang="en-US" sz="1600" dirty="0">
                <a:latin typeface="Arial" panose="020B0604020202020204" pitchFamily="34" charset="0"/>
              </a:rPr>
              <a:t>DTI vs Default (Boxplot)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+mj-lt"/>
              </a:rPr>
              <a:t> </a:t>
            </a:r>
            <a:r>
              <a:rPr lang="en-US" altLang="en-US" sz="1600" dirty="0">
                <a:latin typeface="Arial" panose="020B0604020202020204" pitchFamily="34" charset="0"/>
              </a:rPr>
              <a:t>Interest Rate Distribution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rial" panose="020B0604020202020204" pitchFamily="34" charset="0"/>
              </a:rPr>
              <a:t>Monthly Loan Issuance Trend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rial" panose="020B0604020202020204" pitchFamily="34" charset="0"/>
              </a:rPr>
              <a:t>Good vs Bad Loan Comparison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600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5711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62" y="0"/>
            <a:ext cx="11894127" cy="50771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Power BI – Executive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63" y="651166"/>
            <a:ext cx="11894127" cy="595745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Executive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KPIs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+mj-lt"/>
              </a:rPr>
              <a:t>Total Loans</a:t>
            </a:r>
          </a:p>
          <a:p>
            <a:r>
              <a:rPr lang="en-US" sz="1800" dirty="0">
                <a:latin typeface="+mj-lt"/>
              </a:rPr>
              <a:t>Total Funded Amount</a:t>
            </a:r>
          </a:p>
          <a:p>
            <a:r>
              <a:rPr lang="en-US" sz="1800" dirty="0">
                <a:latin typeface="+mj-lt"/>
              </a:rPr>
              <a:t>Total Payment Received</a:t>
            </a:r>
          </a:p>
          <a:p>
            <a:r>
              <a:rPr lang="en-US" sz="1800" dirty="0">
                <a:latin typeface="+mj-lt"/>
              </a:rPr>
              <a:t>Default Rate</a:t>
            </a:r>
          </a:p>
          <a:p>
            <a:r>
              <a:rPr lang="en-US" sz="1800" dirty="0">
                <a:latin typeface="+mj-lt"/>
              </a:rPr>
              <a:t>Estimated </a:t>
            </a:r>
            <a:r>
              <a:rPr lang="en-US" sz="1800" dirty="0" smtClean="0">
                <a:latin typeface="+mj-lt"/>
              </a:rPr>
              <a:t>Profit</a:t>
            </a:r>
          </a:p>
          <a:p>
            <a:endParaRPr lang="en-US" sz="18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 smtClean="0">
                <a:latin typeface="+mj-lt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Risk Analysis</a:t>
            </a:r>
          </a:p>
          <a:p>
            <a:r>
              <a:rPr lang="en-US" sz="1800" dirty="0">
                <a:latin typeface="+mj-lt"/>
              </a:rPr>
              <a:t>Default Rate by Grade</a:t>
            </a:r>
          </a:p>
          <a:p>
            <a:r>
              <a:rPr lang="en-US" sz="1800" dirty="0">
                <a:latin typeface="+mj-lt"/>
              </a:rPr>
              <a:t>Loan Purpose Risk</a:t>
            </a:r>
          </a:p>
          <a:p>
            <a:r>
              <a:rPr lang="en-US" sz="1800" dirty="0">
                <a:latin typeface="+mj-lt"/>
              </a:rPr>
              <a:t>Risk Category Exposure</a:t>
            </a:r>
          </a:p>
          <a:p>
            <a:r>
              <a:rPr lang="en-US" sz="1800" dirty="0">
                <a:latin typeface="+mj-lt"/>
              </a:rPr>
              <a:t>Geographic Loan Distribution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Advanced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DAX </a:t>
            </a:r>
            <a:r>
              <a:rPr lang="en-US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Measures</a:t>
            </a:r>
          </a:p>
          <a:p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900" dirty="0">
                <a:latin typeface="Bodoni Bk BT" panose="02070603070706020303" pitchFamily="18" charset="0"/>
              </a:rPr>
              <a:t>Default Rate (%) = DIVIDE( CALCULATE(COUNT(</a:t>
            </a:r>
            <a:r>
              <a:rPr lang="en-US" altLang="en-US" sz="1900" dirty="0" err="1">
                <a:latin typeface="Bodoni Bk BT" panose="02070603070706020303" pitchFamily="18" charset="0"/>
              </a:rPr>
              <a:t>bank_loan_data</a:t>
            </a:r>
            <a:r>
              <a:rPr lang="en-US" altLang="en-US" sz="1900" dirty="0">
                <a:latin typeface="Bodoni Bk BT" panose="02070603070706020303" pitchFamily="18" charset="0"/>
              </a:rPr>
              <a:t>[id]), </a:t>
            </a:r>
            <a:r>
              <a:rPr lang="en-US" altLang="en-US" sz="1900" dirty="0" err="1">
                <a:latin typeface="Bodoni Bk BT" panose="02070603070706020303" pitchFamily="18" charset="0"/>
              </a:rPr>
              <a:t>bank_loan_data</a:t>
            </a:r>
            <a:r>
              <a:rPr lang="en-US" altLang="en-US" sz="1900" dirty="0">
                <a:latin typeface="Bodoni Bk BT" panose="02070603070706020303" pitchFamily="18" charset="0"/>
              </a:rPr>
              <a:t>[</a:t>
            </a:r>
            <a:r>
              <a:rPr lang="en-US" altLang="en-US" sz="1900" dirty="0" err="1">
                <a:latin typeface="Bodoni Bk BT" panose="02070603070706020303" pitchFamily="18" charset="0"/>
              </a:rPr>
              <a:t>default_flag</a:t>
            </a:r>
            <a:r>
              <a:rPr lang="en-US" altLang="en-US" sz="1900" dirty="0">
                <a:latin typeface="Bodoni Bk BT" panose="02070603070706020303" pitchFamily="18" charset="0"/>
              </a:rPr>
              <a:t>] = 1), COUNT(</a:t>
            </a:r>
            <a:r>
              <a:rPr lang="en-US" altLang="en-US" sz="1900" dirty="0" err="1">
                <a:latin typeface="Bodoni Bk BT" panose="02070603070706020303" pitchFamily="18" charset="0"/>
              </a:rPr>
              <a:t>bank_loan_data</a:t>
            </a:r>
            <a:r>
              <a:rPr lang="en-US" altLang="en-US" sz="1900" dirty="0">
                <a:latin typeface="Bodoni Bk BT" panose="02070603070706020303" pitchFamily="18" charset="0"/>
              </a:rPr>
              <a:t>[id]) 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911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326" y="0"/>
            <a:ext cx="11894127" cy="48000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 smtClean="0"/>
              <a:t> Key </a:t>
            </a:r>
            <a:r>
              <a:rPr lang="en-IN" sz="2800" dirty="0"/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43240"/>
            <a:ext cx="11894127" cy="643341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u="sng" dirty="0" smtClean="0">
                <a:latin typeface="+mj-lt"/>
              </a:rPr>
              <a:t>   Dashboard 1 :-   Portfolio </a:t>
            </a:r>
            <a:r>
              <a:rPr lang="en-US" sz="1800" u="sng" dirty="0">
                <a:latin typeface="+mj-lt"/>
              </a:rPr>
              <a:t>Key </a:t>
            </a:r>
            <a:r>
              <a:rPr lang="en-US" sz="1800" u="sng" dirty="0" smtClean="0">
                <a:latin typeface="+mj-lt"/>
              </a:rPr>
              <a:t>Outcomes</a:t>
            </a:r>
          </a:p>
          <a:p>
            <a:r>
              <a:rPr lang="en-US" sz="1800" b="1" dirty="0"/>
              <a:t>38.6K</a:t>
            </a:r>
            <a:r>
              <a:rPr lang="en-US" sz="1800" dirty="0"/>
              <a:t> total loan applications</a:t>
            </a:r>
          </a:p>
          <a:p>
            <a:r>
              <a:rPr lang="en-US" sz="1800" b="1" dirty="0"/>
              <a:t>$435.8M </a:t>
            </a:r>
            <a:r>
              <a:rPr lang="en-US" sz="1800" dirty="0"/>
              <a:t>funded | </a:t>
            </a:r>
            <a:r>
              <a:rPr lang="en-US" sz="1800" b="1" dirty="0"/>
              <a:t>$473.1M </a:t>
            </a:r>
            <a:r>
              <a:rPr lang="en-US" sz="1800" dirty="0"/>
              <a:t>received</a:t>
            </a:r>
            <a:r>
              <a:rPr lang="en-US" sz="1600" dirty="0"/>
              <a:t> </a:t>
            </a:r>
            <a:r>
              <a:rPr lang="en-US" sz="1800" dirty="0"/>
              <a:t>(strong recovery)</a:t>
            </a:r>
          </a:p>
          <a:p>
            <a:r>
              <a:rPr lang="en-US" sz="1800" b="1" dirty="0" smtClean="0"/>
              <a:t>Default Rate: </a:t>
            </a:r>
            <a:r>
              <a:rPr lang="en-US" sz="1800" dirty="0" smtClean="0"/>
              <a:t>13.8</a:t>
            </a:r>
            <a:r>
              <a:rPr lang="en-US" sz="1800" dirty="0"/>
              <a:t>%</a:t>
            </a:r>
          </a:p>
          <a:p>
            <a:r>
              <a:rPr lang="en-US" sz="1800" b="1" dirty="0" smtClean="0"/>
              <a:t>80.6% </a:t>
            </a:r>
            <a:r>
              <a:rPr lang="en-US" sz="1800" dirty="0"/>
              <a:t>loans fully paid</a:t>
            </a:r>
          </a:p>
          <a:p>
            <a:r>
              <a:rPr lang="en-US" sz="1800" dirty="0"/>
              <a:t>Loan applications show a </a:t>
            </a:r>
            <a:r>
              <a:rPr lang="en-US" sz="1800" b="1" dirty="0"/>
              <a:t>steady upward trend</a:t>
            </a:r>
            <a:r>
              <a:rPr lang="en-US" sz="1800" dirty="0"/>
              <a:t> throughout the year</a:t>
            </a:r>
          </a:p>
          <a:p>
            <a:r>
              <a:rPr lang="en-US" sz="1800" b="1" dirty="0"/>
              <a:t>60-month loans (73%)</a:t>
            </a:r>
            <a:r>
              <a:rPr lang="en-US" sz="1800" dirty="0"/>
              <a:t> are most preferred</a:t>
            </a:r>
          </a:p>
          <a:p>
            <a:r>
              <a:rPr lang="en-US" sz="1800" b="1" dirty="0"/>
              <a:t>Highest default risk:</a:t>
            </a:r>
            <a:r>
              <a:rPr lang="en-US" sz="1800" dirty="0"/>
              <a:t> Small Business loans</a:t>
            </a:r>
          </a:p>
          <a:p>
            <a:r>
              <a:rPr lang="en-US" sz="1800" b="1" dirty="0"/>
              <a:t>Higher grades (A &amp; B</a:t>
            </a:r>
            <a:r>
              <a:rPr lang="en-US" sz="1800" dirty="0"/>
              <a:t>) show significantly lower default rates</a:t>
            </a:r>
          </a:p>
          <a:p>
            <a:endParaRPr lang="en-US" sz="1800" u="sng" dirty="0" smtClean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u="sng" dirty="0" smtClean="0">
                <a:latin typeface="+mj-lt"/>
              </a:rPr>
              <a:t>Dashboard 2 :-  Overview </a:t>
            </a:r>
            <a:r>
              <a:rPr lang="en-US" sz="1800" u="sng" dirty="0">
                <a:latin typeface="+mj-lt"/>
              </a:rPr>
              <a:t>Dashboard </a:t>
            </a:r>
          </a:p>
          <a:p>
            <a:r>
              <a:rPr lang="en-US" sz="1800" b="1" dirty="0" err="1"/>
              <a:t>Avg</a:t>
            </a:r>
            <a:r>
              <a:rPr lang="en-US" sz="1800" b="1" dirty="0"/>
              <a:t> DTI: 13.3% </a:t>
            </a:r>
            <a:r>
              <a:rPr lang="en-US" sz="1800" dirty="0"/>
              <a:t>→ Borrowers maintain moderate debt levels.</a:t>
            </a:r>
          </a:p>
          <a:p>
            <a:r>
              <a:rPr lang="en-US" sz="1800" b="1" dirty="0" err="1"/>
              <a:t>Avg</a:t>
            </a:r>
            <a:r>
              <a:rPr lang="en-US" sz="1800" b="1" dirty="0"/>
              <a:t> Interest Rate:</a:t>
            </a:r>
            <a:r>
              <a:rPr lang="en-US" sz="1800" dirty="0"/>
              <a:t> 12.05% → Balanced pricing strategy.</a:t>
            </a:r>
          </a:p>
          <a:p>
            <a:r>
              <a:rPr lang="en-US" sz="1800" b="1" dirty="0"/>
              <a:t>Estimated Profit:</a:t>
            </a:r>
            <a:r>
              <a:rPr lang="en-US" sz="1800" dirty="0"/>
              <a:t> $37.31M → Portfolio is generating strong returns.</a:t>
            </a:r>
          </a:p>
          <a:p>
            <a:r>
              <a:rPr lang="en-US" sz="1800" b="1" dirty="0" smtClean="0"/>
              <a:t>Defaulted Loans:</a:t>
            </a:r>
            <a:r>
              <a:rPr lang="en-US" sz="1800" dirty="0"/>
              <a:t> 5K → Manageable but needs monitoring.</a:t>
            </a:r>
          </a:p>
          <a:p>
            <a:r>
              <a:rPr lang="en-US" sz="1800" b="1" dirty="0"/>
              <a:t>Credit Grades:</a:t>
            </a:r>
            <a:r>
              <a:rPr lang="en-US" sz="1800" dirty="0"/>
              <a:t> Lower grades (F &amp; G) show significantly higher default rates, while A &amp; B are low risk.</a:t>
            </a:r>
          </a:p>
          <a:p>
            <a:r>
              <a:rPr lang="en-US" sz="1800" b="1" dirty="0"/>
              <a:t>Verification Status:</a:t>
            </a:r>
            <a:r>
              <a:rPr lang="en-US" sz="1800" dirty="0"/>
              <a:t> ~42% loans are verified, improving credit reliability.</a:t>
            </a:r>
          </a:p>
          <a:p>
            <a:r>
              <a:rPr lang="en-US" sz="1800" b="1" dirty="0"/>
              <a:t>Home Ownership:</a:t>
            </a:r>
            <a:r>
              <a:rPr lang="en-US" sz="1800" dirty="0"/>
              <a:t> Most applications come from </a:t>
            </a:r>
            <a:r>
              <a:rPr lang="en-US" sz="1800" b="1" dirty="0"/>
              <a:t>Rent (18K)</a:t>
            </a:r>
            <a:r>
              <a:rPr lang="en-US" sz="1800" dirty="0"/>
              <a:t> and </a:t>
            </a:r>
            <a:r>
              <a:rPr lang="en-US" sz="1800" b="1" dirty="0"/>
              <a:t>Mortgage (17K)</a:t>
            </a:r>
            <a:r>
              <a:rPr lang="en-US" sz="1800" dirty="0"/>
              <a:t> customers.</a:t>
            </a:r>
          </a:p>
          <a:p>
            <a:r>
              <a:rPr lang="en-US" sz="1800" b="1" dirty="0"/>
              <a:t>Geographical Spread:</a:t>
            </a:r>
            <a:r>
              <a:rPr lang="en-US" sz="1800" dirty="0"/>
              <a:t> Loan volume is concentrated in a few high-performing states.</a:t>
            </a:r>
          </a:p>
          <a:p>
            <a:pPr marL="0" indent="0">
              <a:buNone/>
            </a:pPr>
            <a:r>
              <a:rPr lang="en-US" sz="1800" dirty="0"/>
              <a:t/>
            </a:r>
            <a:br>
              <a:rPr lang="en-US" sz="1800" dirty="0"/>
            </a:br>
            <a:endParaRPr lang="en-US" sz="1800" u="sng" dirty="0">
              <a:latin typeface="+mj-lt"/>
            </a:endParaRPr>
          </a:p>
          <a:p>
            <a:endParaRPr lang="en-US" sz="1800" u="sng" dirty="0" smtClean="0">
              <a:latin typeface="+mj-lt"/>
            </a:endParaRPr>
          </a:p>
          <a:p>
            <a:endParaRPr lang="en-US" sz="1800" u="sng" dirty="0">
              <a:latin typeface="+mj-lt"/>
            </a:endParaRPr>
          </a:p>
          <a:p>
            <a:endParaRPr lang="en-US" sz="1800" u="sng" dirty="0" smtClean="0">
              <a:latin typeface="+mj-lt"/>
            </a:endParaRPr>
          </a:p>
          <a:p>
            <a:endParaRPr lang="en-US" sz="1800" u="sng" dirty="0">
              <a:latin typeface="+mj-lt"/>
            </a:endParaRPr>
          </a:p>
          <a:p>
            <a:endParaRPr lang="en-US" sz="1800" u="sng" dirty="0" smtClean="0">
              <a:latin typeface="+mj-lt"/>
            </a:endParaRPr>
          </a:p>
          <a:p>
            <a:endParaRPr lang="en-US" sz="1800" u="sng" dirty="0">
              <a:latin typeface="+mj-lt"/>
            </a:endParaRPr>
          </a:p>
          <a:p>
            <a:endParaRPr lang="en-US" sz="1800" u="sn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127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12372109" cy="6858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u="sng" dirty="0" smtClean="0">
                <a:latin typeface="+mj-lt"/>
              </a:rPr>
              <a:t>Dashboard 3  :-  Summary </a:t>
            </a:r>
            <a:r>
              <a:rPr lang="en-US" sz="1800" u="sng" dirty="0">
                <a:latin typeface="+mj-lt"/>
              </a:rPr>
              <a:t>Dashboard </a:t>
            </a:r>
            <a:endParaRPr lang="en-US" sz="1800" u="sng" dirty="0" smtClean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 smtClean="0">
                <a:latin typeface="+mj-lt"/>
              </a:rPr>
              <a:t>Total </a:t>
            </a:r>
            <a:r>
              <a:rPr lang="en-US" sz="1800" b="1" dirty="0">
                <a:latin typeface="+mj-lt"/>
              </a:rPr>
              <a:t>Applications:</a:t>
            </a:r>
            <a:r>
              <a:rPr lang="en-US" dirty="0"/>
              <a:t> </a:t>
            </a:r>
            <a:r>
              <a:rPr lang="en-US" sz="1800" dirty="0"/>
              <a:t>38.6K</a:t>
            </a:r>
          </a:p>
          <a:p>
            <a:r>
              <a:rPr lang="en-US" sz="1800" b="1" dirty="0">
                <a:latin typeface="+mj-lt"/>
              </a:rPr>
              <a:t>Total Funded:</a:t>
            </a:r>
            <a:r>
              <a:rPr lang="en-US" sz="1800" dirty="0">
                <a:latin typeface="+mj-lt"/>
              </a:rPr>
              <a:t> $435.8M | </a:t>
            </a:r>
            <a:r>
              <a:rPr lang="en-US" sz="1800" b="1" dirty="0">
                <a:latin typeface="+mj-lt"/>
              </a:rPr>
              <a:t>Total Received:</a:t>
            </a:r>
            <a:r>
              <a:rPr lang="en-US" sz="1800" dirty="0">
                <a:latin typeface="+mj-lt"/>
              </a:rPr>
              <a:t> $473.1M</a:t>
            </a:r>
          </a:p>
          <a:p>
            <a:r>
              <a:rPr lang="en-US" sz="1800" b="1" dirty="0">
                <a:latin typeface="+mj-lt"/>
              </a:rPr>
              <a:t>Overall Default Rate:</a:t>
            </a:r>
            <a:r>
              <a:rPr lang="en-US" sz="1800" dirty="0">
                <a:latin typeface="+mj-lt"/>
              </a:rPr>
              <a:t> 13.8%</a:t>
            </a:r>
          </a:p>
          <a:p>
            <a:r>
              <a:rPr lang="en-US" sz="1800" b="1" dirty="0" smtClean="0">
                <a:latin typeface="+mj-lt"/>
              </a:rPr>
              <a:t> </a:t>
            </a:r>
            <a:r>
              <a:rPr lang="en-US" sz="1800" b="1" dirty="0">
                <a:latin typeface="+mj-lt"/>
              </a:rPr>
              <a:t>Good Loans (86.2%)</a:t>
            </a:r>
          </a:p>
          <a:p>
            <a:r>
              <a:rPr lang="en-US" sz="1800" b="1" dirty="0">
                <a:latin typeface="+mj-lt"/>
              </a:rPr>
              <a:t>33K applications</a:t>
            </a:r>
            <a:endParaRPr lang="en-US" sz="1800" dirty="0">
              <a:latin typeface="+mj-lt"/>
            </a:endParaRPr>
          </a:p>
          <a:p>
            <a:r>
              <a:rPr lang="en-US" sz="1800" b="1" dirty="0">
                <a:latin typeface="+mj-lt"/>
              </a:rPr>
              <a:t>$370.2M funded</a:t>
            </a:r>
            <a:endParaRPr lang="en-US" sz="1800" dirty="0">
              <a:latin typeface="+mj-lt"/>
            </a:endParaRPr>
          </a:p>
          <a:p>
            <a:r>
              <a:rPr lang="en-US" sz="1800" b="1" dirty="0">
                <a:latin typeface="+mj-lt"/>
              </a:rPr>
              <a:t>$435.8M </a:t>
            </a:r>
            <a:r>
              <a:rPr lang="en-US" sz="1800" b="1" dirty="0" smtClean="0">
                <a:latin typeface="+mj-lt"/>
              </a:rPr>
              <a:t>received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  <a:latin typeface="+mj-lt"/>
              </a:rPr>
              <a:t>👉 </a:t>
            </a:r>
            <a:r>
              <a:rPr lang="en-US" sz="1800" dirty="0">
                <a:latin typeface="+mj-lt"/>
              </a:rPr>
              <a:t>Strong repayment performance and healthy portfolio quality.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+mj-lt"/>
              </a:rPr>
              <a:t>⚠</a:t>
            </a:r>
            <a:r>
              <a:rPr lang="en-US" sz="1800" b="1" dirty="0">
                <a:latin typeface="+mj-lt"/>
              </a:rPr>
              <a:t> Bad Loans (13.8%)</a:t>
            </a:r>
          </a:p>
          <a:p>
            <a:r>
              <a:rPr lang="en-US" sz="1800" b="1" dirty="0">
                <a:latin typeface="+mj-lt"/>
              </a:rPr>
              <a:t>5K applications</a:t>
            </a:r>
            <a:endParaRPr lang="en-US" sz="1800" dirty="0">
              <a:latin typeface="+mj-lt"/>
            </a:endParaRPr>
          </a:p>
          <a:p>
            <a:r>
              <a:rPr lang="en-US" sz="1800" b="1" dirty="0">
                <a:latin typeface="+mj-lt"/>
              </a:rPr>
              <a:t>$65.5M funded</a:t>
            </a:r>
            <a:endParaRPr lang="en-US" sz="1800" dirty="0">
              <a:latin typeface="+mj-lt"/>
            </a:endParaRPr>
          </a:p>
          <a:p>
            <a:r>
              <a:rPr lang="en-US" sz="1800" b="1" dirty="0">
                <a:latin typeface="+mj-lt"/>
              </a:rPr>
              <a:t>$37.3M </a:t>
            </a:r>
            <a:r>
              <a:rPr lang="en-US" sz="1800" b="1" dirty="0" smtClean="0">
                <a:latin typeface="+mj-lt"/>
              </a:rPr>
              <a:t>received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  <a:latin typeface="+mj-lt"/>
              </a:rPr>
              <a:t>👉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>
                <a:latin typeface="+mj-lt"/>
              </a:rPr>
              <a:t>Loss exposure exists but remains controlled.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2168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28" y="205468"/>
            <a:ext cx="11905343" cy="447675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/>
              <a:t>Recommendations to Increase Profit &amp; Reduce Risk</a:t>
            </a:r>
            <a:br>
              <a:rPr lang="en-US" sz="2400" b="1" u="sng" dirty="0"/>
            </a:b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3200" y="653142"/>
            <a:ext cx="5816600" cy="6204857"/>
          </a:xfrm>
        </p:spPr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ü"/>
            </a:pPr>
            <a:r>
              <a:rPr lang="en-US" sz="2000" u="sng" dirty="0"/>
              <a:t>Focus on </a:t>
            </a:r>
            <a:r>
              <a:rPr lang="en-US" sz="2000" u="sng" dirty="0" smtClean="0"/>
              <a:t>High-Grade Borrower</a:t>
            </a:r>
          </a:p>
          <a:p>
            <a:pPr fontAlgn="base"/>
            <a:r>
              <a:rPr lang="en-US" sz="2000" dirty="0"/>
              <a:t> Promote and prioritize Grade A &amp; B customers (lowest default rates).</a:t>
            </a:r>
          </a:p>
          <a:p>
            <a:pPr fontAlgn="base"/>
            <a:r>
              <a:rPr lang="en-US" sz="2000" dirty="0" smtClean="0"/>
              <a:t>Offer </a:t>
            </a:r>
            <a:r>
              <a:rPr lang="en-US" sz="2000" dirty="0"/>
              <a:t>loyalty benefits to retain low-risk borrowers</a:t>
            </a:r>
            <a:r>
              <a:rPr lang="en-US" sz="2000" dirty="0" smtClean="0"/>
              <a:t>.</a:t>
            </a:r>
          </a:p>
          <a:p>
            <a:pPr fontAlgn="base">
              <a:buFont typeface="Wingdings" panose="05000000000000000000" pitchFamily="2" charset="2"/>
              <a:buChar char="§"/>
            </a:pPr>
            <a:endParaRPr lang="en-US" sz="2000" u="sng" dirty="0"/>
          </a:p>
          <a:p>
            <a:pPr fontAlgn="base">
              <a:buFont typeface="Wingdings" panose="05000000000000000000" pitchFamily="2" charset="2"/>
              <a:buChar char="ü"/>
            </a:pPr>
            <a:r>
              <a:rPr lang="en-US" sz="2000" u="sng" dirty="0"/>
              <a:t>Tighten Risk on Small Business Loans</a:t>
            </a:r>
          </a:p>
          <a:p>
            <a:pPr fontAlgn="base"/>
            <a:r>
              <a:rPr lang="en-US" sz="2000" dirty="0"/>
              <a:t>Since small business loans show highest default rate,</a:t>
            </a:r>
          </a:p>
          <a:p>
            <a:pPr fontAlgn="base"/>
            <a:r>
              <a:rPr lang="en-US" sz="2000" dirty="0"/>
              <a:t>→ Apply stricter credit checks</a:t>
            </a:r>
          </a:p>
          <a:p>
            <a:pPr fontAlgn="base"/>
            <a:r>
              <a:rPr lang="en-US" sz="2000" dirty="0"/>
              <a:t>→ Increase interest margin slightly</a:t>
            </a:r>
          </a:p>
          <a:p>
            <a:pPr fontAlgn="base"/>
            <a:r>
              <a:rPr lang="en-US" sz="2000" dirty="0"/>
              <a:t>→ Improve monitoring after disbursement</a:t>
            </a:r>
          </a:p>
          <a:p>
            <a:pPr fontAlgn="base">
              <a:buFont typeface="Wingdings" panose="05000000000000000000" pitchFamily="2" charset="2"/>
              <a:buChar char="§"/>
            </a:pPr>
            <a:endParaRPr lang="en-US" sz="2000" u="sng" dirty="0" smtClean="0"/>
          </a:p>
          <a:p>
            <a:pPr fontAlgn="base">
              <a:buFont typeface="Wingdings" panose="05000000000000000000" pitchFamily="2" charset="2"/>
              <a:buChar char="ü"/>
            </a:pPr>
            <a:r>
              <a:rPr lang="en-US" sz="2000" u="sng" dirty="0">
                <a:latin typeface="+mj-lt"/>
              </a:rPr>
              <a:t>Target High-Performing States</a:t>
            </a:r>
          </a:p>
          <a:p>
            <a:pPr fontAlgn="base"/>
            <a:r>
              <a:rPr lang="en-US" sz="2000" dirty="0"/>
              <a:t>Invest marketing budget in states with high repayment rates.</a:t>
            </a:r>
          </a:p>
          <a:p>
            <a:pPr fontAlgn="base"/>
            <a:r>
              <a:rPr lang="en-US" sz="2000" dirty="0"/>
              <a:t>Reduce exposure in high-default regions</a:t>
            </a:r>
            <a:endParaRPr lang="en-US" sz="2000" u="sng" dirty="0" smtClean="0"/>
          </a:p>
          <a:p>
            <a:pPr marL="0" indent="0" fontAlgn="base">
              <a:buNone/>
            </a:pPr>
            <a:endParaRPr lang="en-US" sz="2000" u="sng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8228" y="653143"/>
            <a:ext cx="5863772" cy="59798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u="sng" dirty="0"/>
              <a:t>Optimize Interest Pricing</a:t>
            </a:r>
          </a:p>
          <a:p>
            <a:pPr fontAlgn="base"/>
            <a:r>
              <a:rPr lang="en-US" sz="2000" dirty="0"/>
              <a:t>Align interest rates with risk grades.</a:t>
            </a:r>
          </a:p>
          <a:p>
            <a:pPr fontAlgn="base"/>
            <a:r>
              <a:rPr lang="en-US" sz="2000" dirty="0"/>
              <a:t>Higher-risk grades (F &amp; G) → Risk-adjusted pricing.</a:t>
            </a:r>
          </a:p>
          <a:p>
            <a:pPr fontAlgn="base"/>
            <a:r>
              <a:rPr lang="en-US" sz="2000" dirty="0"/>
              <a:t>Offer competitive rates for safer customers to increase volume</a:t>
            </a:r>
            <a:r>
              <a:rPr lang="en-US" sz="2000" dirty="0" smtClean="0"/>
              <a:t>.</a:t>
            </a:r>
          </a:p>
          <a:p>
            <a:pPr fontAlgn="base"/>
            <a:endParaRPr lang="en-US" sz="2000" dirty="0" smtClean="0"/>
          </a:p>
          <a:p>
            <a:pPr fontAlgn="base">
              <a:buFont typeface="Wingdings" panose="05000000000000000000" pitchFamily="2" charset="2"/>
              <a:buChar char="ü"/>
            </a:pPr>
            <a:r>
              <a:rPr lang="en-US" sz="2000" u="sng" dirty="0">
                <a:latin typeface="+mj-lt"/>
              </a:rPr>
              <a:t>Increase Loan Verification</a:t>
            </a:r>
          </a:p>
          <a:p>
            <a:pPr fontAlgn="base"/>
            <a:r>
              <a:rPr lang="en-US" sz="2000" dirty="0"/>
              <a:t>Promote full verification to reduce fraud and defaults.</a:t>
            </a:r>
          </a:p>
          <a:p>
            <a:pPr fontAlgn="base"/>
            <a:r>
              <a:rPr lang="en-US" sz="2000" dirty="0"/>
              <a:t>Encourage documentation-based approvals.</a:t>
            </a:r>
          </a:p>
          <a:p>
            <a:pPr fontAlgn="base"/>
            <a:endParaRPr lang="en-US" sz="2000" u="sng" dirty="0" smtClean="0">
              <a:latin typeface="+mj-lt"/>
            </a:endParaRPr>
          </a:p>
          <a:p>
            <a:pPr fontAlgn="base">
              <a:buFont typeface="Wingdings" panose="05000000000000000000" pitchFamily="2" charset="2"/>
              <a:buChar char="ü"/>
            </a:pPr>
            <a:r>
              <a:rPr lang="en-US" sz="2000" u="sng" dirty="0">
                <a:latin typeface="+mj-lt"/>
              </a:rPr>
              <a:t>Promote 36-Month Loans</a:t>
            </a:r>
          </a:p>
          <a:p>
            <a:pPr fontAlgn="base"/>
            <a:r>
              <a:rPr lang="en-US" sz="2000" dirty="0"/>
              <a:t>Encourage shorter-term loans to improve cash flow and reduce long-term risk</a:t>
            </a:r>
          </a:p>
          <a:p>
            <a:endParaRPr lang="en-IN" sz="2000" dirty="0"/>
          </a:p>
          <a:p>
            <a:pPr fontAlgn="base"/>
            <a:endParaRPr lang="en-IN" sz="2000" u="sn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2519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586</Words>
  <Application>Microsoft Office PowerPoint</Application>
  <PresentationFormat>Widescreen</PresentationFormat>
  <Paragraphs>162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Bodoni Bk BT</vt:lpstr>
      <vt:lpstr>Calibri</vt:lpstr>
      <vt:lpstr>Calibri Light</vt:lpstr>
      <vt:lpstr>Courier New</vt:lpstr>
      <vt:lpstr>Segoe UI Light</vt:lpstr>
      <vt:lpstr>Segoe UI Semibold</vt:lpstr>
      <vt:lpstr>Wingdings</vt:lpstr>
      <vt:lpstr>Office Theme</vt:lpstr>
      <vt:lpstr>NovaTrust Bank Loan Risk Analysis Project</vt:lpstr>
      <vt:lpstr> Project Overview </vt:lpstr>
      <vt:lpstr>MySQL – Data Cleaning &amp; Exploratory Analysis</vt:lpstr>
      <vt:lpstr>Python – KPI Development &amp; Risk Analytics</vt:lpstr>
      <vt:lpstr>PowerPoint Presentation</vt:lpstr>
      <vt:lpstr>Power BI – Executive Dashboard</vt:lpstr>
      <vt:lpstr> Key Insights</vt:lpstr>
      <vt:lpstr>PowerPoint Presentation</vt:lpstr>
      <vt:lpstr>Recommendations to Increase Profit &amp; Reduce Risk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NovaTrust Bank Loan Risk Analysis Project</dc:title>
  <dc:creator>User</dc:creator>
  <cp:lastModifiedBy>User</cp:lastModifiedBy>
  <cp:revision>17</cp:revision>
  <dcterms:created xsi:type="dcterms:W3CDTF">2026-02-12T08:41:47Z</dcterms:created>
  <dcterms:modified xsi:type="dcterms:W3CDTF">2026-02-23T08:15:23Z</dcterms:modified>
</cp:coreProperties>
</file>